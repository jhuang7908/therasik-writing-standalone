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 &amp; Key Challenges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1216152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22960"/>
            <a:ext cx="7589520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82296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46720" y="822960"/>
            <a:ext cx="3886200" cy="40233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0" y="822960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01000" y="822960"/>
            <a:ext cx="0" cy="566928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1325880"/>
            <a:ext cx="7589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325880"/>
            <a:ext cx="54864" cy="2286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371600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Affinity Maturation &amp; Structural Prediction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4048" y="1755648"/>
            <a:ext cx="7315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VAM-based affinity maturation: intelligent mutation proposals guided by binding energy landscape</a:t>
            </a:r>
            <a:endParaRPr lang="en-US" sz="1100" dirty="0"/>
          </a:p>
          <a:p>
            <a:pPr>
              <a:lnSpc>
                <a:spcPct val="125000"/>
              </a:lnSpc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Structure-based complex modeling: AlphaFold2, Haddock, Boltz-2 for antigen-antibody docking and interface scoring</a:t>
            </a:r>
            <a:endParaRPr lang="en-US" sz="1100" dirty="0"/>
          </a:p>
          <a:p>
            <a:pPr>
              <a:lnSpc>
                <a:spcPct val="125000"/>
              </a:lnSpc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MD-GBSA molecular dynamics: free energy perturbation and solvation-corrected binding parameters for high-accuracy affinity ranking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3749040"/>
            <a:ext cx="7589520" cy="2697480"/>
          </a:xfrm>
          <a:prstGeom prst="rect">
            <a:avLst/>
          </a:prstGeom>
          <a:solidFill>
            <a:srgbClr val="E6F7F7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3749040"/>
            <a:ext cx="54864" cy="2697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794760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De Novo Antibody Design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4048" y="4178808"/>
            <a:ext cx="73152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IP differentiation: de novo scaffolds generate novel sequences outside existing patent landscapes</a:t>
            </a:r>
            <a:endParaRPr lang="en-US" sz="1100" dirty="0"/>
          </a:p>
          <a:p>
            <a:pPr>
              <a:lnSpc>
                <a:spcPct val="125000"/>
              </a:lnSpc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Immune tolerance &amp; cryptic epitopes: access conformational or buried epitopes unreachable by conventional discovery</a:t>
            </a:r>
            <a:endParaRPr lang="en-US" sz="1100" dirty="0"/>
          </a:p>
          <a:p>
            <a:pPr>
              <a:lnSpc>
                <a:spcPct val="125000"/>
              </a:lnSpc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generative workflow: RFdiffusion (backbone generation) + ProteinMPNN (sequence design) + AlphaFold2 (structure validation) -- end-to-end computational antibody creation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46720" y="1325880"/>
            <a:ext cx="3886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0" y="1325880"/>
            <a:ext cx="54864" cy="14173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19872" y="1371600"/>
            <a:ext cx="10058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Naturalness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62288" y="1417320"/>
            <a:ext cx="26700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novo scaffolds may deviate from natural antibody geometry; CDR loop conformations and VH/VL pairing must remain compatible with expression and function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046720" y="2834640"/>
            <a:ext cx="3886200" cy="1417320"/>
          </a:xfrm>
          <a:prstGeom prst="rect">
            <a:avLst/>
          </a:prstGeom>
          <a:solidFill>
            <a:srgbClr val="F0EEFF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0" y="2834640"/>
            <a:ext cx="54864" cy="14173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9872" y="2880360"/>
            <a:ext cx="10058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Immuno-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genicity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62288" y="2926080"/>
            <a:ext cx="26700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sequences lack clinical precedent; ADA risk cannot be inferred from existing databases -- new validation frameworks required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046720" y="4343400"/>
            <a:ext cx="3886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046720" y="4343400"/>
            <a:ext cx="54864" cy="14173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19872" y="4389120"/>
            <a:ext cx="10058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Develop-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162288" y="4434840"/>
            <a:ext cx="26700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Computationally designed antibodies must satisfy 25 CMC parameters; aggregation, solubility, and chemical liabilities must be co-optimized during design, not corrected post-hoc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6647688"/>
            <a:ext cx="12161520" cy="2103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6647688"/>
            <a:ext cx="11521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InSynBio  |  Antibody Engineering Platform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Drug Design: Novel Immunotherapy Applications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1216152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86384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in 100+ clinical projects  |  Combining generative AI with structure-based design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143000"/>
            <a:ext cx="57607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43000"/>
            <a:ext cx="576072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430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Design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" y="1563624"/>
            <a:ext cx="5486400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Binder optimization: CMC-aware antibody selection for conjugation site stability and DAR homogeneity</a:t>
            </a:r>
            <a:endParaRPr lang="en-US" sz="1050" dirty="0"/>
          </a:p>
          <a:p>
            <a:pPr>
              <a:lnSpc>
                <a:spcPct val="125000"/>
              </a:lnSpc>
            </a:pPr>
            <a:endParaRPr lang="en-US" sz="1050" dirty="0"/>
          </a:p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intelligence: efficacy vs. systemic toxicity profile screening across DAR configurations</a:t>
            </a:r>
            <a:endParaRPr lang="en-US" sz="1050" dirty="0"/>
          </a:p>
          <a:p>
            <a:pPr>
              <a:lnSpc>
                <a:spcPct val="125000"/>
              </a:lnSpc>
            </a:pPr>
            <a:endParaRPr lang="en-US" sz="1050" dirty="0"/>
          </a:p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Linker design: cleavage kinetics and plasma stability modeled for tumor microenvironment selectivity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143000"/>
            <a:ext cx="57607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0" y="1143000"/>
            <a:ext cx="5760720" cy="36576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1430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CAR-T Element Design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82512" y="1563624"/>
            <a:ext cx="5486400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287 CAR-T components characterized: scFv binders, hinge regions, transmembrane and co-stimulatory domains</a:t>
            </a:r>
            <a:endParaRPr lang="en-US" sz="1050" dirty="0"/>
          </a:p>
          <a:p>
            <a:pPr>
              <a:lnSpc>
                <a:spcPct val="125000"/>
              </a:lnSpc>
            </a:pPr>
            <a:endParaRPr lang="en-US" sz="1050" dirty="0"/>
          </a:p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and structural learning across clinical CAR-T constructs for pattern-based design</a:t>
            </a:r>
            <a:endParaRPr lang="en-US" sz="1050" dirty="0"/>
          </a:p>
          <a:p>
            <a:pPr>
              <a:lnSpc>
                <a:spcPct val="125000"/>
              </a:lnSpc>
            </a:pPr>
            <a:endParaRPr lang="en-US" sz="1050" dirty="0"/>
          </a:p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component assembly: compatibility scoring for optimal construct architecture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3858768"/>
            <a:ext cx="57607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3858768"/>
            <a:ext cx="5760720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858768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mRNA Vaccine Antigen Design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3192" y="4279392"/>
            <a:ext cx="5486400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Antigen prediction: surface exposure, MHC-I/II presentation, and B-cell epitope potential scoring</a:t>
            </a:r>
            <a:endParaRPr lang="en-US" sz="1050" dirty="0"/>
          </a:p>
          <a:p>
            <a:pPr>
              <a:lnSpc>
                <a:spcPct val="125000"/>
              </a:lnSpc>
            </a:pPr>
            <a:endParaRPr lang="en-US" sz="1050" dirty="0"/>
          </a:p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Multi-epitope mRNA design: maximizing population-level coverage across diverse HLA haplotypes</a:t>
            </a:r>
            <a:endParaRPr lang="en-US" sz="1050" dirty="0"/>
          </a:p>
          <a:p>
            <a:pPr>
              <a:lnSpc>
                <a:spcPct val="125000"/>
              </a:lnSpc>
            </a:pPr>
            <a:endParaRPr lang="en-US" sz="1050" dirty="0"/>
          </a:p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optimization: codon usage, 5'/3' UTR secondary structure, and thermal stability co-optimization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3858768"/>
            <a:ext cx="57607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3858768"/>
            <a:ext cx="5760720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3858768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Bispecific Antibody Design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82512" y="4279392"/>
            <a:ext cx="5486400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scFv and IgG-like format learning from clinical bispecific antibody landscape</a:t>
            </a:r>
            <a:endParaRPr lang="en-US" sz="1050" dirty="0"/>
          </a:p>
          <a:p>
            <a:pPr>
              <a:lnSpc>
                <a:spcPct val="125000"/>
              </a:lnSpc>
            </a:pPr>
            <a:endParaRPr lang="en-US" sz="1050" dirty="0"/>
          </a:p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CMC-aligned evaluation: chain mispairing risk, asymmetric Fc engineering, and VH/VL compatibility</a:t>
            </a:r>
            <a:endParaRPr lang="en-US" sz="1050" dirty="0"/>
          </a:p>
          <a:p>
            <a:pPr>
              <a:lnSpc>
                <a:spcPct val="125000"/>
              </a:lnSpc>
            </a:pPr>
            <a:endParaRPr lang="en-US" sz="1050" dirty="0"/>
          </a:p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selection guided by target biology, half-life requirements, and developability profile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6647688"/>
            <a:ext cx="12161520" cy="2103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6647688"/>
            <a:ext cx="11521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InSynBio  |  Antibody Engineering Platform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&amp; Collaboration Models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1216152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877824"/>
            <a:ext cx="274320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877824"/>
            <a:ext cx="2743200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" y="877824"/>
            <a:ext cx="6766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950976" y="969264"/>
            <a:ext cx="0" cy="62179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896112"/>
            <a:ext cx="1883664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Platform Access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2608" y="1755648"/>
            <a:ext cx="2560320" cy="310896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175564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occasional or project-based use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9184" y="2139696"/>
            <a:ext cx="2523744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access to the full antibody engineering suite. No infrastructure required. Per-project or subscription pricing. Suitable for discovery teams with intermittent AI-assisted design needs.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145536" y="877824"/>
            <a:ext cx="274320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45536" y="877824"/>
            <a:ext cx="2743200" cy="8046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91256" y="877824"/>
            <a:ext cx="6766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3895344" y="969264"/>
            <a:ext cx="0" cy="62179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50208" y="896112"/>
            <a:ext cx="1883664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AI Platform Deployment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36976" y="1755648"/>
            <a:ext cx="2560320" cy="310896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36976" y="175564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organizations requiring data sovereignty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73552" y="2139696"/>
            <a:ext cx="2523744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platform deployed within your private cloud or on-premise environment. Supports custom DIY module integration. IP and sequence data remain entirely within your security perimeter.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089904" y="877824"/>
            <a:ext cx="274320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89904" y="877824"/>
            <a:ext cx="2743200" cy="8046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35624" y="877824"/>
            <a:ext cx="6766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24" name="Shape 22"/>
          <p:cNvSpPr/>
          <p:nvPr/>
        </p:nvSpPr>
        <p:spPr>
          <a:xfrm>
            <a:off x="6839712" y="969264"/>
            <a:ext cx="0" cy="62179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94576" y="896112"/>
            <a:ext cx="1883664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Wet-Dry Integrated Services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81344" y="1755648"/>
            <a:ext cx="2560320" cy="310896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81344" y="175564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end-to-end outsourced campaigns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17920" y="2139696"/>
            <a:ext cx="2523744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design seamlessly connected to wet-lab validation. Iterative cycles of in silico optimization and experimental feedback. Covers humanization, affinity maturation, and CMC optimization campaigns.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034272" y="877824"/>
            <a:ext cx="274320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034272" y="877824"/>
            <a:ext cx="2743200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79992" y="877824"/>
            <a:ext cx="6766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200" dirty="0"/>
          </a:p>
        </p:txBody>
      </p:sp>
      <p:sp>
        <p:nvSpPr>
          <p:cNvPr id="32" name="Shape 30"/>
          <p:cNvSpPr/>
          <p:nvPr/>
        </p:nvSpPr>
        <p:spPr>
          <a:xfrm>
            <a:off x="9784080" y="969264"/>
            <a:ext cx="0" cy="62179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38944" y="896112"/>
            <a:ext cx="1883664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Immunotherapy Development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125712" y="1755648"/>
            <a:ext cx="2560320" cy="310896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175564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co-development and shared-IP programs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162288" y="2139696"/>
            <a:ext cx="2523744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co-development of novel immunological drugs: ADC, CAR-T, bispecific antibody, or mRNA vaccine programs. InSynBio contributes platform, algorithms, and computational expertise as a co-development partner.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0" y="6647688"/>
            <a:ext cx="12161520" cy="2103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6647688"/>
            <a:ext cx="11521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InSynBio  |  Antibody Engineering Platform  | 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Future Directions, Applications &amp; Collaboration</dc:title>
  <dc:subject>PptxGenJS Presentation</dc:subject>
  <dc:creator>PptxGenJS</dc:creator>
  <cp:lastModifiedBy>PptxGenJS</cp:lastModifiedBy>
  <cp:revision>1</cp:revision>
  <dcterms:created xsi:type="dcterms:W3CDTF">2026-05-14T00:04:11Z</dcterms:created>
  <dcterms:modified xsi:type="dcterms:W3CDTF">2026-05-14T00:04:11Z</dcterms:modified>
</cp:coreProperties>
</file>