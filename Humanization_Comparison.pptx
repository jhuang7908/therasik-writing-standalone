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29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9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18320" y="-182880"/>
            <a:ext cx="2194560" cy="21945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-182880"/>
            <a:ext cx="2194560" cy="2194560"/>
          </a:xfrm>
          <a:prstGeom prst="ellipse">
            <a:avLst/>
          </a:prstGeom>
          <a:solidFill>
            <a:srgbClr val="08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822960"/>
            <a:ext cx="2194560" cy="2194560"/>
          </a:xfrm>
          <a:prstGeom prst="ellipse">
            <a:avLst/>
          </a:prstGeom>
          <a:noFill/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2926080" cy="2926080"/>
          </a:xfrm>
          <a:prstGeom prst="ellipse">
            <a:avLst/>
          </a:prstGeom>
          <a:noFill/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zh-CN" altLang="en-US" b="1" dirty="0">
                <a:solidFill>
                  <a:srgbClr val="14B8A6"/>
                </a:solidFill>
                <a:latin typeface="微软雅黑"/>
              </a:rPr>
              <a:t>未来模式苏州生物科技有限公司</a:t>
            </a:r>
            <a:endParaRPr sz="1800" b="1" i="0" dirty="0">
              <a:solidFill>
                <a:srgbClr val="14B8A6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微软雅黑"/>
              </a:rPr>
              <a:t>新一代生物医药转化平台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0" i="0" dirty="0" err="1">
                <a:solidFill>
                  <a:srgbClr val="F59E0B"/>
                </a:solidFill>
                <a:latin typeface="微软雅黑"/>
              </a:rPr>
              <a:t>动物模型</a:t>
            </a:r>
            <a:r>
              <a:rPr sz="2600" b="0" i="0" dirty="0">
                <a:solidFill>
                  <a:srgbClr val="F59E0B"/>
                </a:solidFill>
                <a:latin typeface="微软雅黑"/>
              </a:rPr>
              <a:t> · AI </a:t>
            </a:r>
            <a:r>
              <a:rPr sz="2600" b="0" i="0" dirty="0" err="1">
                <a:solidFill>
                  <a:srgbClr val="F59E0B"/>
                </a:solidFill>
                <a:latin typeface="微软雅黑"/>
              </a:rPr>
              <a:t>制药</a:t>
            </a:r>
            <a:endParaRPr sz="2600" b="0" i="0" dirty="0">
              <a:solidFill>
                <a:srgbClr val="F59E0B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微软雅黑"/>
              </a:rPr>
              <a:t>服务于转化医学、精准医学与人工智能研究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731520" cy="20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汇报人：黄菁博士  |  创始人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微软雅黑"/>
              </a:rPr>
              <a:t>汇报时间：2026年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微软雅黑"/>
              </a:rPr>
              <a:t>www.genomab.com  ·  www.nextvivo.com.cn  ·  www.therasik.com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/>
              </a:rPr>
              <a:t>封面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微软雅黑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0F1E4D"/>
                </a:solidFill>
                <a:latin typeface="微软雅黑"/>
              </a:rPr>
              <a:t>创始人简介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微软雅黑"/>
              </a:rPr>
              <a:t>免疫学 + 动物模型 + AI 算法 复合背景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840480" cy="4754880"/>
          </a:xfrm>
          <a:prstGeom prst="rect">
            <a:avLst/>
          </a:prstGeom>
          <a:solidFill>
            <a:srgbClr val="0F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17904" y="1609344"/>
            <a:ext cx="1901952" cy="190195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ing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235" y="1581912"/>
            <a:ext cx="1988621" cy="1929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20440"/>
            <a:ext cx="3840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黄菁 博士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i="0">
                <a:solidFill>
                  <a:srgbClr val="14B8A6"/>
                </a:solidFill>
                <a:latin typeface="微软雅黑"/>
              </a:rPr>
              <a:t>创始人 &amp; CEO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26280"/>
            <a:ext cx="777240" cy="3200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</a:rPr>
              <a:t>免疫学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526280"/>
            <a:ext cx="777240" cy="3200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452628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</a:rPr>
              <a:t>动物模型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526280"/>
            <a:ext cx="777240" cy="3200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452628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</a:rPr>
              <a:t>疫苗学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526280"/>
            <a:ext cx="777240" cy="3200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4526280"/>
            <a:ext cx="777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</a:rPr>
              <a:t>AI 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中科院北京动物所 博士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软雅黑"/>
              </a:rPr>
              <a:t>北京大学医学部 博士后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50" b="0" i="1">
                <a:solidFill>
                  <a:srgbClr val="CBD5E1"/>
                </a:solidFill>
                <a:latin typeface="微软雅黑"/>
              </a:rPr>
              <a:t>（师从童坦军院士）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417320"/>
            <a:ext cx="54864" cy="12801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1417320"/>
            <a:ext cx="6675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1E4D"/>
                </a:solidFill>
                <a:latin typeface="微软雅黑"/>
              </a:rPr>
              <a:t>海外科研经历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78308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2006 起赴美：爱因斯坦医学院 / ADARC / 洛克菲勒大学 / 哥伦比亚大学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05740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2008–2018 加入何大一院士团队，专注免疫学与转基因动物模型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697480"/>
            <a:ext cx="54864" cy="1417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2697480"/>
            <a:ext cx="6675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1E4D"/>
                </a:solidFill>
                <a:latin typeface="微软雅黑"/>
              </a:rPr>
              <a:t>科研成果与技术专长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06324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独立开发：4 种转基因模型 + 3 种免疫缺陷小鼠模型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33756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发表 SCI 27 篇（10 篇一作 / 通讯）· 最高 IF 18 · 单篇引用 180+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61188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技术覆盖：分子生物 / 病毒学 / 基因治疗 / 疫苗研发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160520"/>
            <a:ext cx="54864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4160520"/>
            <a:ext cx="6675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1E4D"/>
                </a:solidFill>
                <a:latin typeface="微软雅黑"/>
              </a:rPr>
              <a:t>产业转化合作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52628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协助 Leidos 开发 PD1 阻断蛋白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80060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与 USAID 合作开发 MagaVax 疫苗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07492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与巴斯德研究所联合开发靶向 DC 纳米疫苗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548640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5486400"/>
            <a:ext cx="6675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1E4D"/>
                </a:solidFill>
                <a:latin typeface="微软雅黑"/>
              </a:rPr>
              <a:t>创业与平台建设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85216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2021 年苏州创立 “未来模式”，获园区领军人才计划支持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612648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已建立 10+ 商业化免疫缺陷小鼠模型，开发中 30+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6400800"/>
            <a:ext cx="6583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▸ 申请发明专利 16 项 · 开发细胞系 10+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/>
              </a:rPr>
              <a:t>公司概览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微软雅黑"/>
              </a:rPr>
              <a:t>3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VH/VL Humanization: Our Approach vs. Conventional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822960"/>
            <a:ext cx="0" cy="495604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371600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41732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chosen by highest sequence homology to the query antibody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37160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71600"/>
            <a:ext cx="54864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41732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pool restricted to clinically validated antibodies — CMC fitness is evidence-based, not assumed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2167128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similarity drives all decisions; structural consequences rarely evaluated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121408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121408"/>
            <a:ext cx="54864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167128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 replaces sequence similarity — Vernier zone geometry, SASA burial depth and CDR conformation are the primary decision criteria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Back-mutation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25880" y="2871216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916936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Empirical, operator-dependent, case-by-case judgment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871216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2916936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rules derived from ML analysis of clinical antibodies: buried-SASA, G/P, Vernier cluster linkage, VH/VL angle threshold, salt-bridge preservation, and more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VH/VL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25880" y="3621024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896" y="3666744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and light chain frameworks selected independently; pair compatibility rarely validated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621024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3621024"/>
            <a:ext cx="54864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666744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Pairing Index — VH/VL co-occurrence validated in natural human repertoires and clinical antibody databases; guarantees CMC-compatible chain pairing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25880" y="4370832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416552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sequence identity treated as sufficient structural check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4370832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44184" y="4416552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VH/VL interdomain angle monitored as a hard threshold: deviation &gt; 3° triggers mandatory back-mutations to preserve binding geometry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25880" y="5120640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53896" y="516636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candidate sequences delivered; experimental screening determines the winner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5120640"/>
            <a:ext cx="59893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44184" y="516636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1:1 output — one optimal sequence per input. CDR RMSD, pI, SAP and dual-layer immunogenicity (sequence + structural SASA) pre-validate outcome computationally, reducing wet-lab iteration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VHH (Nanobody) Humanization: Our Approach vs. Conventional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822960"/>
            <a:ext cx="0" cy="4956048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371600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41732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Highest-identity human VH3 germline selected; canonical hallmarks (37/44/45/47) preserved and the remainder humanized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37160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71600"/>
            <a:ext cx="54864" cy="7040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41732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pool drawn from clinically validated VHH antibodies — selection is CMC-informed, not homology-driven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2167128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fixed variants delivered; humanization extent is uniform regardless of molecule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121408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121408"/>
            <a:ext cx="54864" cy="7040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167128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gradient (S1 / S2 / S3) driven by overall hydrophobicity (GRAVY index) — depth is molecule-specific, ensuring each VHH is neither over- nor under-humanized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CDR3 &amp; FR2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25880" y="2871216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916936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CDR3 length not considered in FR2 humanization decisions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871216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2871216"/>
            <a:ext cx="54864" cy="7040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4184" y="2916936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CDR3 raises overall hydrophobicity, requiring FR2 to retain camelid hydrophilic character. Shorter CDR3 allows greater FR2 humanization — a data-derived correlation from clinical VHH antibodies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25880" y="3621024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3666744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risk assessed after synthesis; no systematic gating before humanization decisions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7880" y="3621024"/>
            <a:ext cx="59893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666744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 index gates tier selection. AbNativ index quantifies the VHH vs. VH character on a continuous spectrum, tracking and limiting humanization-induced hydrophobicity increase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25880" y="4370832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416552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assay and thermal stability measured after expression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4370832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44184" y="4416552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quality triad before synthesis: structural fold stability + hydrophobicity profile (SAP / GRAVY) + pI — wet-lab outcomes are predicted, not discovered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 Single-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Conv.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25880" y="5120640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53896" y="516636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systematically offered; conversion assumed to require full de novo re-discovery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512064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5120640"/>
            <a:ext cx="54864" cy="7040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44184" y="516636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algorithm scores feasibility of converting a conventional VH to single-domain format and defines the minimum mutation set. Eligibility is explicitly scored — not all VH domains qualify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Assessment: Our Approach vs. Conventional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822960"/>
            <a:ext cx="0" cy="495604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371600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41732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clinical reference; ad hoc thresholds based on internal experience or published rules of thumb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37160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71600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41732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clinical antibodies with known CMC outcomes, covering sequences and structures, stratified by antibody origin (transgenic, humanized, VHH) and format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2167128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pI and GRAVY assessed; aggregation and chemical liabilities checked reactively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121408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121408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167128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physicochemical parameters assessed in one integrated profile: pI, GRAVY, instability index, SAP, charge patches, hydrophobic patches, N-glycosylation, deamidation, isomerization, free Cys, and more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25880" y="2871216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916936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thresholds are generic; not informed by what clinically approved antibodies actually look like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871216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2916936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normal ranges derived from clinical antibodies. Each parameter is evaluated against the reference band for the corresponding antibody origin and format -- not one-size-fits-all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CMC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25880" y="3621024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896" y="3666744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manual, single-parameter, and assessed in isolation; cross-parameter impact rarely evaluated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621024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3621024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666744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CMC: amino-acid-level mutations proposed with automated evaluation of their impact across all 25 parameters simultaneously -- no blind spots from fixing one issue while creating another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25880" y="4370832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416552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issues discovered late; costly reformulation or late-stage attrition (industry-wide ~30% pre-clinical failure at CMC)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4370832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44184" y="4416552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FR-based liabilities can often be resolved by conservative substitution. CDR-based liabilities are flagged as structurally constrained -- providing clear rationale to advance or switch clones before synthesis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25880" y="5120640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53896" y="516636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selection driven by affinity and expression; CMC fitness assessed only after lead selection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512064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5120640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44184" y="516636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fitness integrated into early clone ranking -- antibodies with unresolvable liabilities are deprioritized before costly expression and SPR campaigns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Immunogenicity Assessment: Our Approach vs. Conventional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822960"/>
            <a:ext cx="0" cy="4956048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371600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41732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clinical ADA reference; immunogenicity risk based on homology scores or single-tool predictions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37160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71600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41732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database of 245+ clinical antibodies with real-world ADA incidence, stratified by discovery platform (humanized, transgenic, VHH, phage display) and indication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2167128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from different discovery platforms pooled into a single immunogenicity model -- biologics from transgenic mice vs. CDR-grafting treated identically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121408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121408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167128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ADA profiles: transgenic-derived antibodies show lower median ADA (~3%); CDR-grafted humanized antibodies show higher median (~6%). Different origins carry different immunogenic risk floors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vs.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25880" y="2871216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916936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is treated as a direct readout of sequence humanness; sequence optimization assumed to proportionally reduce 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871216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2871216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4184" y="2916936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Sequence-derived ADA is only a fraction of total clinical ADA. Non-sequence factors (formulation, dosing, indication, patient immune status) dominate -- sequence engineering addresses one component, not the whole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25880" y="3621024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3666744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Immunogenicity risk assessed uniformly regardless of disease indication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7880" y="3621024"/>
            <a:ext cx="59893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666744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indications show higher sequence-derived ADA than oncology indications. Risk assessment is indication-aware: the same antibody carries different immunogenic risk in RA vs. solid tumor settings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25880" y="4370832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416552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 binding (IEDB, NetMHCIIpan) is the dominant immunogenicity predictor -- the standard approach among domestic competitors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4370832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4370832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44184" y="4416552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goes beyond MHC-II binding, adopting antibody language model indices: OASIS naturalness score and pairing score. These capture sequence-level humanness in a biologically richer representation than MHC-II affinity alone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25880" y="5120640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3896" y="516636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scores used without systematic validation against real clinical ADA outcomes -- predictive value assumed but not empirically verified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97880" y="512064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97880" y="5120640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44184" y="516636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 all indices against 245+ clinical antibodies with real ADA data. Even state-of-the-art language model indices show limited power to separate high vs. low ADA outcomes -- informing an honest, multi-dimensional risk stratification rather than a single-score verdict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&amp; Key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758952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22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822960"/>
            <a:ext cx="3886200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0" y="8229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1000" y="822960"/>
            <a:ext cx="0" cy="56692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25880"/>
            <a:ext cx="7589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325880"/>
            <a:ext cx="54864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37160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Affinity Maturation &amp; Structural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1755648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VAM-based affinity maturation: intelligent mutation proposals guided by binding energy landscape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Structure-based complex modeling: AlphaFold2, Haddock, Boltz-2 for antigen-antibody docking and interface scoring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MD-GBSA molecular dynamics: free energy perturbation and solvation-corrected binding parameters for high-accuracy affinity ranking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749040"/>
            <a:ext cx="7589520" cy="2697480"/>
          </a:xfrm>
          <a:prstGeom prst="rect">
            <a:avLst/>
          </a:prstGeom>
          <a:solidFill>
            <a:srgbClr val="E6F7F7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749040"/>
            <a:ext cx="54864" cy="2697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9476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De Novo Antibody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4178808"/>
            <a:ext cx="73152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IP differentiation: de novo scaffolds generate novel sequences outside existing patent landscapes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tolerance &amp; cryptic epitopes: access conformational or buried epitopes unreachable by conventional discovery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generative workflow: RFdiffusion (backbone generation) + ProteinMPNN (sequence design) + AlphaFold2 (structure validation) -- end-to-end computational antibody creation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32588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325880"/>
            <a:ext cx="54864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1371600"/>
            <a:ext cx="1005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62288" y="141732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scaffolds may deviate from natural antibody geometry; CDR loop conformations and VH/VL pairing must remain compatible with expression and 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834640"/>
            <a:ext cx="3886200" cy="1417320"/>
          </a:xfrm>
          <a:prstGeom prst="rect">
            <a:avLst/>
          </a:prstGeom>
          <a:solidFill>
            <a:srgbClr val="F0EEFF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2834640"/>
            <a:ext cx="54864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880360"/>
            <a:ext cx="1005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genicity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62288" y="292608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sequences lack clinical precedent; ADA risk cannot be inferred from existing databases -- new validation frameworks required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4343400"/>
            <a:ext cx="3886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4343400"/>
            <a:ext cx="54864" cy="1417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4389120"/>
            <a:ext cx="1005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62288" y="4434840"/>
            <a:ext cx="2670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designed antibodies must satisfy 25 CMC parameters; aggregation, solubility, and chemical liabilities must be co-optimized during design, not corrected post-hoc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Drug Design: Novel Immunotherapy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86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100+ clinical projects  |  Combining generative AI with structure-based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57607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563624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optimization: CMC-aware antibody selection for conjugation site stability and DAR homogeneity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intelligence: efficacy vs. systemic toxicity profile screening across DAR configurations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design: cleavage kinetics and plasma stability modeled for tumor microenvironment selectivity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143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 Element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563624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CAR-T components characterized: scFv binders, hinge regions, transmembrane and co-stimulatory domains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and structural learning across clinical CAR-T constructs for pattern-based design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component assembly: compatibility scoring for optimal construct architecture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858768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858768"/>
            <a:ext cx="576072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587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Vaccine Antigen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427939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prediction: surface exposure, MHC-I/II presentation, and B-cell epitope potential scoring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Multi-epitope mRNA design: maximizing population-level coverage across diverse HLA haplotypes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optimization: codon usage, 5'/3' UTR secondary structure, and thermal stability co-optimization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858768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858768"/>
            <a:ext cx="57607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587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Bispecific Antibody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4279392"/>
            <a:ext cx="54864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scFv and IgG-like format learning from clinical bispecific antibody landscape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CMC-aligned evaluation: chain mispairing risk, asymmetric Fc engineering, and VH/VL compatibility</a:t>
            </a:r>
            <a:endParaRPr lang="en-US" sz="1050" dirty="0"/>
          </a:p>
          <a:p>
            <a:pPr>
              <a:lnSpc>
                <a:spcPct val="125000"/>
              </a:lnSpc>
            </a:pPr>
            <a:endParaRPr lang="en-US" sz="105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selection guided by target biology, half-life requirements, and developability profile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Collaboration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77824"/>
            <a:ext cx="27432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50976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occasional or project-based use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access to the full antibody engineering suite. No infrastructure required. Per-project or subscription pricing. Suitable for discovery teams with intermittent AI-assisted design needs.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45536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877824"/>
            <a:ext cx="2743200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895344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 Platform Deployment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36976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organizations requiring data sovereignty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deployed within your private cloud or on-premise environment. Supports custom DIY module integration. IP and sequence data remain entirely within your security perimeter.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9904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877824"/>
            <a:ext cx="274320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6839712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Wet-Dry Integrated Services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81344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end-to-end outsourced campaigns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design seamlessly connected to wet-lab validation. Iterative cycles of in silico optimization and experimental feedback. Covers humanization, affinity maturation, and CMC optimization campaigns.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34272" y="877824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34272" y="877824"/>
            <a:ext cx="274320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877824"/>
            <a:ext cx="676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9784080" y="969264"/>
            <a:ext cx="0" cy="62179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8944" y="896112"/>
            <a:ext cx="188366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Immunotherapy Development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25712" y="1755648"/>
            <a:ext cx="25603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17556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co-development and shared-IP programs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62288" y="2139696"/>
            <a:ext cx="2523744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co-development of novel immunological drugs: ADC, CAR-T, bispecific antibody, or mRNA vaccine programs. InSynBio contributes platform, algorithms, and computational expertise as a co-development partner.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0F1E4D"/>
                </a:solidFill>
                <a:latin typeface="微软雅黑"/>
              </a:rPr>
              <a:t>行业技术分代与市场现状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微软雅黑"/>
              </a:rPr>
              <a:t>免疫系统人源化小鼠技术历经三代发展 — 我们覆盖全部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657600" cy="3931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5760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第一代  ·  普及型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微软雅黑"/>
              </a:rPr>
              <a:t>代表模型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NSG / NOG / NCG / NDG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微软雅黑"/>
              </a:rPr>
              <a:t>市场规模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全球年销量约 100 万只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微软雅黑"/>
              </a:rPr>
              <a:t>终端价格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4223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150–350 元 / 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475569"/>
                </a:solidFill>
                <a:latin typeface="微软雅黑"/>
              </a:rPr>
              <a:t>特点 / 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1947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市场高度同质化
临床转化率 &lt; 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554480"/>
            <a:ext cx="3657600" cy="3931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1554480"/>
            <a:ext cx="3657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155448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第二代  ·  中端型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33172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4B8A6"/>
                </a:solidFill>
                <a:latin typeface="微软雅黑"/>
              </a:rPr>
              <a:t>代表模型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8775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细胞因子转基因模型
(IL15 / EXL / SGM3)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10896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4B8A6"/>
                </a:solidFill>
                <a:latin typeface="微软雅黑"/>
              </a:rPr>
              <a:t>市场规模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6499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增强免疫重建效率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8862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4B8A6"/>
                </a:solidFill>
                <a:latin typeface="微软雅黑"/>
              </a:rPr>
              <a:t>终端价格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14223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800–1,500 元 / 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66344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4B8A6"/>
                </a:solidFill>
                <a:latin typeface="微软雅黑"/>
              </a:rPr>
              <a:t>特点 / 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1947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局部解决半衰期与 ADA 问题
仍存在 CDC / CDX 难题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4" y="1554480"/>
            <a:ext cx="3657600" cy="3931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01584" y="155448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01584" y="155448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0F1E4D"/>
                </a:solidFill>
                <a:latin typeface="微软雅黑"/>
              </a:rPr>
              <a:t>第三代  ·  高端型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33172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微软雅黑"/>
              </a:rPr>
              <a:t>代表模型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58775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NSGF + NSGT + NOG FcγR-KO
+ Immunebooster AAV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10896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微软雅黑"/>
              </a:rPr>
              <a:t>市场规模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336499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国内唯一三大品系全集合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8862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微软雅黑"/>
              </a:rPr>
              <a:t>终端价格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414223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全球 2023–2025 主流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466344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微软雅黑"/>
              </a:rPr>
              <a:t>特点 / 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919472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8,000–12,000 元 / 只
临床前研究核心平台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0F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广泛应用于 ADC · PD-1 · 双特异性抗体 · CAR-T · 自免疾病  ——  欧美临床前研究核心平台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/>
              </a:rPr>
              <a:t>动物模型 · 行业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微软雅黑"/>
              </a:rPr>
              <a:t>7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0F1E4D"/>
                </a:solidFill>
                <a:latin typeface="微软雅黑"/>
              </a:rPr>
              <a:t>第三代免疫缺陷小鼠 — 三大品系全集合 + AAV 平台协同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微软雅黑"/>
              </a:rPr>
              <a:t>国内唯一同时拥有 NSGF / NSGT / NOG FcγR-KO 三大第三代品系并融合 AAV 长效平台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65760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57600" cy="777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</a:rPr>
              <a:t>NSGF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微软雅黑"/>
              </a:rPr>
              <a:t>高免疫重建 + 高随髓系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PBMC / CD34 重建效率最高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80944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髓系细胞分化最完整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92424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肿瘤微环境模拟最真实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803904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JAX 最新品系 · 国内稀缺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554480"/>
            <a:ext cx="365760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5112" y="1554480"/>
            <a:ext cx="3657600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16459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</a:rPr>
              <a:t>NSGT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057400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微软雅黑"/>
              </a:rPr>
              <a:t>淋巴结发育</a:t>
            </a:r>
          </a:p>
        </p:txBody>
      </p:sp>
      <p:sp>
        <p:nvSpPr>
          <p:cNvPr id="20" name="Oval 19"/>
          <p:cNvSpPr/>
          <p:nvPr/>
        </p:nvSpPr>
        <p:spPr>
          <a:xfrm>
            <a:off x="4690872" y="256946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3752" y="246888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唯一具备完整淋巴结结构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298094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73752" y="288036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支持 T 细胞 / B 细胞协同应答</a:t>
            </a:r>
          </a:p>
        </p:txBody>
      </p:sp>
      <p:sp>
        <p:nvSpPr>
          <p:cNvPr id="24" name="Oval 23"/>
          <p:cNvSpPr/>
          <p:nvPr/>
        </p:nvSpPr>
        <p:spPr>
          <a:xfrm>
            <a:off x="4690872" y="339242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32918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最适合疫苗与免疫应答研究</a:t>
            </a:r>
          </a:p>
        </p:txBody>
      </p:sp>
      <p:sp>
        <p:nvSpPr>
          <p:cNvPr id="26" name="Oval 25"/>
          <p:cNvSpPr/>
          <p:nvPr/>
        </p:nvSpPr>
        <p:spPr>
          <a:xfrm>
            <a:off x="4690872" y="3803904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73752" y="370332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研究自免疾病的关键工具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554480"/>
            <a:ext cx="365760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01584" y="1554480"/>
            <a:ext cx="3657600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75904" y="16459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</a:rPr>
              <a:t>NOG FcγR-KO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2057400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微软雅黑"/>
              </a:rPr>
              <a:t>抗体药效明显 · 减少假阳性</a:t>
            </a:r>
          </a:p>
        </p:txBody>
      </p:sp>
      <p:sp>
        <p:nvSpPr>
          <p:cNvPr id="32" name="Oval 31"/>
          <p:cNvSpPr/>
          <p:nvPr/>
        </p:nvSpPr>
        <p:spPr>
          <a:xfrm>
            <a:off x="8467344" y="256946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0224" y="246888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敲除小鼠 FcγR 干扰</a:t>
            </a:r>
          </a:p>
        </p:txBody>
      </p:sp>
      <p:sp>
        <p:nvSpPr>
          <p:cNvPr id="34" name="Oval 33"/>
          <p:cNvSpPr/>
          <p:nvPr/>
        </p:nvSpPr>
        <p:spPr>
          <a:xfrm>
            <a:off x="8467344" y="298094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50224" y="288036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ADCC / ADCP 信号纯净</a:t>
            </a:r>
          </a:p>
        </p:txBody>
      </p:sp>
      <p:sp>
        <p:nvSpPr>
          <p:cNvPr id="36" name="Oval 35"/>
          <p:cNvSpPr/>
          <p:nvPr/>
        </p:nvSpPr>
        <p:spPr>
          <a:xfrm>
            <a:off x="8467344" y="339242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50224" y="32918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抗体药效评估更准确</a:t>
            </a:r>
          </a:p>
        </p:txBody>
      </p:sp>
      <p:sp>
        <p:nvSpPr>
          <p:cNvPr id="38" name="Oval 37"/>
          <p:cNvSpPr/>
          <p:nvPr/>
        </p:nvSpPr>
        <p:spPr>
          <a:xfrm>
            <a:off x="8467344" y="380390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50224" y="370332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软雅黑"/>
              </a:rPr>
              <a:t>ADC / 双抗 / 单抗的金标准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572000"/>
            <a:ext cx="11064240" cy="1691640"/>
          </a:xfrm>
          <a:prstGeom prst="rect">
            <a:avLst/>
          </a:prstGeom>
          <a:solidFill>
            <a:srgbClr val="0F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4736592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微软雅黑"/>
              </a:rPr>
              <a:t>★ 国内唯一全集合 + 平台协同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1663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</a:rPr>
              <a:t>我们是国内唯一同时拥有第三代三大品系（NSGF + NSGT + NOG FcγR-KO）的公司，且全部与自研 AAV 长效平台融合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23560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微软雅黑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623560"/>
            <a:ext cx="3246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微软雅黑"/>
              </a:rPr>
              <a:t>覆盖最全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879592"/>
            <a:ext cx="3246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微软雅黑"/>
              </a:rPr>
              <a:t>三大品系互补 — 客户研究全场景一站式解决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623560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微软雅黑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623560"/>
            <a:ext cx="3246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微软雅黑"/>
              </a:rPr>
              <a:t>AAV 协同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879592"/>
            <a:ext cx="3246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微软雅黑"/>
              </a:rPr>
              <a:t>细胞因子 6 个月长效表达，第三代品系如虎添翼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5623560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微软雅黑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623560"/>
            <a:ext cx="3246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  <a:latin typeface="微软雅黑"/>
              </a:rPr>
              <a:t>专利壁垒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879592"/>
            <a:ext cx="3246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微软雅黑"/>
              </a:rPr>
              <a:t>提前 16 个月布局，形成产品 + 专利矩阵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/>
              </a:rPr>
              <a:t>动物模型 · 第三代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微软雅黑"/>
              </a:rPr>
              <a:t>8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2094</Words>
  <Application>Microsoft Office PowerPoint</Application>
  <PresentationFormat>宽屏</PresentationFormat>
  <Paragraphs>287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Antibody Humanization: Our Approach vs Conventional</dc:title>
  <dc:subject>PptxGenJS Presentation</dc:subject>
  <dc:creator>PptxGenJS</dc:creator>
  <cp:lastModifiedBy>jing huang</cp:lastModifiedBy>
  <cp:revision>2</cp:revision>
  <dcterms:created xsi:type="dcterms:W3CDTF">2026-05-13T23:09:47Z</dcterms:created>
  <dcterms:modified xsi:type="dcterms:W3CDTF">2026-05-14T00:22:48Z</dcterms:modified>
</cp:coreProperties>
</file>