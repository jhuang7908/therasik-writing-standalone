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CMC Assessment: Our Approach vs. Conventional Methods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21615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822960"/>
            <a:ext cx="4389120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25880" y="822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Industry Methods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97880" y="822960"/>
            <a:ext cx="598932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97880" y="82296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822960"/>
            <a:ext cx="0" cy="4956048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371600"/>
            <a:ext cx="1005840" cy="7040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71600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25880" y="1371600"/>
            <a:ext cx="43891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53896" y="1417320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clinical reference; ad hoc thresholds based on internal experience or published rules of thumb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97880" y="1371600"/>
            <a:ext cx="5989320" cy="704088"/>
          </a:xfrm>
          <a:prstGeom prst="rect">
            <a:avLst/>
          </a:prstGeom>
          <a:solidFill>
            <a:srgbClr val="E6F7F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97880" y="1371600"/>
            <a:ext cx="54864" cy="7040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44184" y="1417320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 clinical antibodies with known CMC outcomes, covering sequences and structures, stratified by antibody origin (transgenic, humanized, VHH) and format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121408"/>
            <a:ext cx="1005840" cy="7040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121408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325880" y="2121408"/>
            <a:ext cx="4389120" cy="704088"/>
          </a:xfrm>
          <a:prstGeom prst="rect">
            <a:avLst/>
          </a:prstGeom>
          <a:solidFill>
            <a:srgbClr val="EA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53896" y="2167128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pI and GRAVY assessed; aggregation and chemical liabilities checked reactively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97880" y="2121408"/>
            <a:ext cx="5989320" cy="704088"/>
          </a:xfrm>
          <a:prstGeom prst="rect">
            <a:avLst/>
          </a:prstGeom>
          <a:solidFill>
            <a:srgbClr val="E6F7F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2121408"/>
            <a:ext cx="54864" cy="7040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44184" y="2167128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physicochemical parameters assessed in one integrated profile: pI, GRAVY, instability index, SAP, charge patches, hydrophobic patches, N-glycosylation, deamidation, isomerization, free Cys, and more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871216"/>
            <a:ext cx="1005840" cy="704088"/>
          </a:xfrm>
          <a:prstGeom prst="rect">
            <a:avLst/>
          </a:prstGeom>
          <a:solidFill>
            <a:srgbClr val="475569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871216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25880" y="2871216"/>
            <a:ext cx="43891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53896" y="2916936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thresholds are generic; not informed by what clinically approved antibodies actually look like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97880" y="2871216"/>
            <a:ext cx="59893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44184" y="2916936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Platform-specific normal ranges derived from clinical antibodies. Each parameter is evaluated against the reference band for the corresponding antibody origin and format -- not one-size-fits-all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621024"/>
            <a:ext cx="1005840" cy="7040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621024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CMC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25880" y="3621024"/>
            <a:ext cx="4389120" cy="704088"/>
          </a:xfrm>
          <a:prstGeom prst="rect">
            <a:avLst/>
          </a:prstGeom>
          <a:solidFill>
            <a:srgbClr val="EA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53896" y="3666744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is manual, single-parameter, and assessed in isolation; cross-parameter impact rarely evaluated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97880" y="3621024"/>
            <a:ext cx="5989320" cy="704088"/>
          </a:xfrm>
          <a:prstGeom prst="rect">
            <a:avLst/>
          </a:prstGeom>
          <a:solidFill>
            <a:srgbClr val="E6F7F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97880" y="3621024"/>
            <a:ext cx="54864" cy="7040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44184" y="3666744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CMC: amino-acid-level mutations proposed with automated evaluation of their impact across all 25 parameters simultaneously -- no blind spots from fixing one issue while creating another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370832"/>
            <a:ext cx="1005840" cy="704088"/>
          </a:xfrm>
          <a:prstGeom prst="rect">
            <a:avLst/>
          </a:prstGeom>
          <a:solidFill>
            <a:srgbClr val="475569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370832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325880" y="4370832"/>
            <a:ext cx="43891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53896" y="4416552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CMC issues discovered late; costly reformulation or late-stage attrition (industry-wide ~30% pre-clinical failure at CMC)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897880" y="4370832"/>
            <a:ext cx="59893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44184" y="4416552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FR-based liabilities can often be resolved by conservative substitution. CDR-based liabilities are flagged as structurally constrained -- providing clear rationale to advance or switch clones before synthesis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5120640"/>
            <a:ext cx="1005840" cy="7040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5120640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325880" y="5120640"/>
            <a:ext cx="4389120" cy="704088"/>
          </a:xfrm>
          <a:prstGeom prst="rect">
            <a:avLst/>
          </a:prstGeom>
          <a:solidFill>
            <a:srgbClr val="EA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453896" y="5166360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selection driven by affinity and expression; CMC fitness assessed only after lead selection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897880" y="5120640"/>
            <a:ext cx="5989320" cy="704088"/>
          </a:xfrm>
          <a:prstGeom prst="rect">
            <a:avLst/>
          </a:prstGeom>
          <a:solidFill>
            <a:srgbClr val="E6F7F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97880" y="5120640"/>
            <a:ext cx="54864" cy="7040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44184" y="5166360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CMC fitness integrated into early clone ranking -- antibodies with unresolvable liabilities are deprioritized before costly expression and SPR campaigns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6647688"/>
            <a:ext cx="12161520" cy="2103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6647688"/>
            <a:ext cx="11521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InSynBio  |  Antibody Engineering Platform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Immunogenicity Assessment: Our Approach vs. Conventional Methods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12161520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822960"/>
            <a:ext cx="4389120" cy="4572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25880" y="822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Industry Methods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97880" y="822960"/>
            <a:ext cx="5989320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97880" y="82296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52160" y="822960"/>
            <a:ext cx="0" cy="4956048"/>
          </a:xfrm>
          <a:prstGeom prst="line">
            <a:avLst/>
          </a:prstGeom>
          <a:noFill/>
          <a:ln w="19050">
            <a:solidFill>
              <a:srgbClr val="6D28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371600"/>
            <a:ext cx="1005840" cy="7040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71600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25880" y="1371600"/>
            <a:ext cx="43891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53896" y="1417320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clinical ADA reference; immunogenicity risk based on homology scores or single-tool predictions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97880" y="1371600"/>
            <a:ext cx="5989320" cy="704088"/>
          </a:xfrm>
          <a:prstGeom prst="rect">
            <a:avLst/>
          </a:prstGeom>
          <a:solidFill>
            <a:srgbClr val="E6F7F7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97880" y="1371600"/>
            <a:ext cx="54864" cy="7040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44184" y="1417320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database of 245+ clinical antibodies with real-world ADA incidence, stratified by discovery platform (humanized, transgenic, VHH, phage display) and indication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121408"/>
            <a:ext cx="1005840" cy="7040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121408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ADA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325880" y="2121408"/>
            <a:ext cx="4389120" cy="704088"/>
          </a:xfrm>
          <a:prstGeom prst="rect">
            <a:avLst/>
          </a:prstGeom>
          <a:solidFill>
            <a:srgbClr val="EA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53896" y="2167128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Antibodies from different discovery platforms pooled into a single immunogenicity model -- biologics from transgenic mice vs. CDR-grafting treated identically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97880" y="2121408"/>
            <a:ext cx="5989320" cy="704088"/>
          </a:xfrm>
          <a:prstGeom prst="rect">
            <a:avLst/>
          </a:prstGeom>
          <a:solidFill>
            <a:srgbClr val="E6F7F7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2121408"/>
            <a:ext cx="54864" cy="7040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44184" y="2167128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Platform-specific ADA profiles: transgenic-derived antibodies show lower median ADA (~3%); CDR-grafted humanized antibodies show higher median (~6%). Different origins carry different immunogenic risk floors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871216"/>
            <a:ext cx="1005840" cy="7040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871216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vs.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25880" y="2871216"/>
            <a:ext cx="43891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53896" y="2916936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is treated as a direct readout of sequence humanness; sequence optimization assumed to proportionally reduce ADA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97880" y="2871216"/>
            <a:ext cx="5989320" cy="704088"/>
          </a:xfrm>
          <a:prstGeom prst="rect">
            <a:avLst/>
          </a:prstGeom>
          <a:solidFill>
            <a:srgbClr val="E6F7F7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2871216"/>
            <a:ext cx="54864" cy="7040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44184" y="2916936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Sequence-derived ADA is only a fraction of total clinical ADA. Non-sequence factors (formulation, dosing, indication, patient immune status) dominate -- sequence engineering addresses one component, not the whole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621024"/>
            <a:ext cx="1005840" cy="704088"/>
          </a:xfrm>
          <a:prstGeom prst="rect">
            <a:avLst/>
          </a:prstGeom>
          <a:solidFill>
            <a:srgbClr val="475569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621024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325880" y="3621024"/>
            <a:ext cx="4389120" cy="704088"/>
          </a:xfrm>
          <a:prstGeom prst="rect">
            <a:avLst/>
          </a:prstGeom>
          <a:solidFill>
            <a:srgbClr val="EA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53896" y="3666744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Immunogenicity risk assessed uniformly regardless of disease indication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97880" y="3621024"/>
            <a:ext cx="5989320" cy="704088"/>
          </a:xfrm>
          <a:prstGeom prst="rect">
            <a:avLst/>
          </a:prstGeom>
          <a:solidFill>
            <a:srgbClr val="EA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44184" y="3666744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Autoimmune indications show higher sequence-derived ADA than oncology indications. Risk assessment is indication-aware: the same antibody carries different immunogenic risk in RA vs. solid tumor settings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370832"/>
            <a:ext cx="1005840" cy="7040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370832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325880" y="4370832"/>
            <a:ext cx="438912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53896" y="4416552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MHC-II binding (IEDB, NetMHCIIpan) is the dominant immunogenicity predictor -- the standard approach among domestic competitors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897880" y="4370832"/>
            <a:ext cx="5989320" cy="704088"/>
          </a:xfrm>
          <a:prstGeom prst="rect">
            <a:avLst/>
          </a:prstGeom>
          <a:solidFill>
            <a:srgbClr val="E6F7F7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97880" y="4370832"/>
            <a:ext cx="54864" cy="7040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44184" y="4416552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platform goes beyond MHC-II binding, adopting antibody language model indices: OASIS naturalness score and pairing score. These capture sequence-level humanness in a biologically richer representation than MHC-II affinity alone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5120640"/>
            <a:ext cx="1005840" cy="7040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5120640"/>
            <a:ext cx="1005840" cy="7040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325880" y="5120640"/>
            <a:ext cx="4389120" cy="704088"/>
          </a:xfrm>
          <a:prstGeom prst="rect">
            <a:avLst/>
          </a:prstGeom>
          <a:solidFill>
            <a:srgbClr val="EA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53896" y="5166360"/>
            <a:ext cx="418795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scores used without systematic validation against real clinical ADA outcomes -- predictive value assumed but not empirically verified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897880" y="5120640"/>
            <a:ext cx="5989320" cy="704088"/>
          </a:xfrm>
          <a:prstGeom prst="rect">
            <a:avLst/>
          </a:prstGeom>
          <a:solidFill>
            <a:srgbClr val="E6F7F7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97880" y="5120640"/>
            <a:ext cx="54864" cy="7040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44184" y="5166360"/>
            <a:ext cx="576986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validate all indices against 245+ clinical antibodies with real ADA data. Even state-of-the-art language model indices show limited power to separate high vs. low ADA outcomes -- informing an honest, multi-dimensional risk stratification rather than a single-score verdict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0" y="6647688"/>
            <a:ext cx="12161520" cy="2103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6647688"/>
            <a:ext cx="11521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InSynBio  |  Antibody Engineering Platform  |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CMC Assessment &amp; Immunogenicity: Our Approach vs Conventional</dc:title>
  <dc:subject>PptxGenJS Presentation</dc:subject>
  <dc:creator>PptxGenJS</dc:creator>
  <cp:lastModifiedBy>PptxGenJS</cp:lastModifiedBy>
  <cp:revision>1</cp:revision>
  <dcterms:created xsi:type="dcterms:W3CDTF">2026-05-13T23:40:36Z</dcterms:created>
  <dcterms:modified xsi:type="dcterms:W3CDTF">2026-05-13T23:40:36Z</dcterms:modified>
</cp:coreProperties>
</file>